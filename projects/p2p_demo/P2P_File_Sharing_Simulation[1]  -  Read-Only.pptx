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6" r:id="rId1"/>
    <p:sldMasterId id="2147483725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9144000" cy="6858000" type="screen4x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127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pPr algn="r">
              <a:lnSpc>
                <a:spcPct val="100000"/>
              </a:lnSpc>
              <a:buNone/>
            </a:pPr>
            <a:fld id="{F33E86ED-9368-491B-97E3-1894AF2F2D2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1268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F33E86ED-9368-491B-97E3-1894AF2F2D2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195137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F33E86ED-9368-491B-97E3-1894AF2F2D2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3037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F33E86ED-9368-491B-97E3-1894AF2F2D2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807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F33E86ED-9368-491B-97E3-1894AF2F2D2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955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0A65B0-E37E-402A-92B4-57F3BC8AADB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7678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F33E86ED-9368-491B-97E3-1894AF2F2D2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32735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F33E86ED-9368-491B-97E3-1894AF2F2D2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1789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F33E86ED-9368-491B-97E3-1894AF2F2D2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27187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26542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62497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5498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9333790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16020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66054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F33E86ED-9368-491B-97E3-1894AF2F2D2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75794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F33E86ED-9368-491B-97E3-1894AF2F2D2F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01540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77CA578-1757-4FC3-BC46-901039488AB2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722546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021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060314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99445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1139579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3588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Footer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2DF3BA-F503-44B5-995D-6DCD33FB6A6E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697107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674010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0659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0382592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200902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0507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7441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8689728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75110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5051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5509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5068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31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slideLayout" Target="../slideLayouts/slideLayout30.xml"/><Relationship Id="rId17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0.xml"/><Relationship Id="rId16" Type="http://schemas.openxmlformats.org/officeDocument/2006/relationships/slideLayout" Target="../slideLayouts/slideLayout34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8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19126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lang="en-US" sz="1200" b="0" strike="noStrike" spc="-1">
                <a:solidFill>
                  <a:srgbClr val="8B8B8B"/>
                </a:solidFill>
                <a:latin typeface="Calibri"/>
              </a:rPr>
              <a:t>&lt;date/time&gt;</a:t>
            </a:r>
            <a:endParaRPr lang="en-US" sz="1200" b="0" strike="noStrike" spc="-1">
              <a:latin typeface="Times New Roman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algn="ctr">
              <a:buNone/>
            </a:pPr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ADB0F9B-D9CE-420E-95B8-3D08C4EC0A94}" type="slidenum">
              <a:rPr lang="en-US" sz="1200" b="0" strike="noStrike" spc="-1" smtClean="0">
                <a:solidFill>
                  <a:srgbClr val="8B8B8B"/>
                </a:solidFill>
                <a:latin typeface="Calibri"/>
              </a:rPr>
              <a:t>‹#›</a:t>
            </a:fld>
            <a:endParaRPr lang="en-US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02924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8B8B8B"/>
                </a:solidFill>
                <a:latin typeface="Calibri"/>
              </a:rPr>
              <a:t>Simulation Project</a:t>
            </a:r>
            <a:endParaRPr lang="en-US" sz="32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strike="noStrike" spc="-1" dirty="0">
                <a:solidFill>
                  <a:srgbClr val="8B8B8B"/>
                </a:solidFill>
                <a:latin typeface="Calibri"/>
              </a:rPr>
              <a:t>By [</a:t>
            </a:r>
            <a:r>
              <a:rPr lang="en-US" sz="3200" spc="-1" dirty="0">
                <a:solidFill>
                  <a:srgbClr val="8B8B8B"/>
                </a:solidFill>
                <a:latin typeface="Calibri"/>
              </a:rPr>
              <a:t>Battina Tanush Balaji</a:t>
            </a:r>
            <a:r>
              <a:rPr lang="en-US" sz="3200" b="0" strike="noStrike" spc="-1" dirty="0">
                <a:solidFill>
                  <a:srgbClr val="8B8B8B"/>
                </a:solidFill>
                <a:latin typeface="Calibri"/>
              </a:rPr>
              <a:t>]</a:t>
            </a:r>
          </a:p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spc="-1" dirty="0">
                <a:solidFill>
                  <a:srgbClr val="8B8B8B"/>
                </a:solidFill>
                <a:latin typeface="Calibri"/>
              </a:rPr>
              <a:t>Reg No: 24BCE5018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</a:rPr>
              <a:t>Peer-to-Peer (P2P) File Sharing Network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 idx="4294967295"/>
          </p:nvPr>
        </p:nvSpPr>
        <p:spPr>
          <a:xfrm>
            <a:off x="281354" y="665407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</a:rPr>
              <a:t>Problem Statement</a:t>
            </a:r>
          </a:p>
        </p:txBody>
      </p:sp>
      <p:sp>
        <p:nvSpPr>
          <p:cNvPr id="85" name="PlaceHolder 2"/>
          <p:cNvSpPr>
            <a:spLocks noGrp="1"/>
          </p:cNvSpPr>
          <p:nvPr>
            <p:ph idx="4294967295"/>
          </p:nvPr>
        </p:nvSpPr>
        <p:spPr>
          <a:xfrm>
            <a:off x="859692" y="1609969"/>
            <a:ext cx="7369908" cy="4516194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  <a:spcBef>
                <a:spcPts val="281"/>
              </a:spcBef>
              <a:buFont typeface="Wingdings" panose="05000000000000000000" pitchFamily="2" charset="2"/>
              <a:buChar char="Ø"/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Client-server file sharing overloads central servers when multiple users download the same file.</a:t>
            </a: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This causes network congestion and slower download speeds.</a:t>
            </a: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Peer-to-Peer (P2P) networking allows peers to share file parts directly, improving performance.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 idx="4294967295"/>
          </p:nvPr>
        </p:nvSpPr>
        <p:spPr>
          <a:xfrm>
            <a:off x="211016" y="731837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</a:rPr>
              <a:t>Objective</a:t>
            </a:r>
          </a:p>
        </p:txBody>
      </p:sp>
      <p:sp>
        <p:nvSpPr>
          <p:cNvPr id="87" name="PlaceHolder 2"/>
          <p:cNvSpPr>
            <a:spLocks noGrp="1"/>
          </p:cNvSpPr>
          <p:nvPr>
            <p:ph idx="4294967295"/>
          </p:nvPr>
        </p:nvSpPr>
        <p:spPr>
          <a:xfrm>
            <a:off x="859692" y="1602154"/>
            <a:ext cx="7369908" cy="4524009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spcBef>
                <a:spcPts val="281"/>
              </a:spcBef>
              <a:buFont typeface="Wingdings" panose="05000000000000000000" pitchFamily="2" charset="2"/>
              <a:buChar char="Ø"/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Simulate a P2P file sharing network.</a:t>
            </a: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Show how peers exchange file chunks without a central server.</a:t>
            </a: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Compare performance with traditional client-server approach.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 idx="4294967295"/>
          </p:nvPr>
        </p:nvSpPr>
        <p:spPr>
          <a:xfrm>
            <a:off x="0" y="731837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</a:rPr>
              <a:t>  Methodology</a:t>
            </a:r>
          </a:p>
        </p:txBody>
      </p:sp>
      <p:sp>
        <p:nvSpPr>
          <p:cNvPr id="89" name="PlaceHolder 2"/>
          <p:cNvSpPr>
            <a:spLocks noGrp="1"/>
          </p:cNvSpPr>
          <p:nvPr>
            <p:ph idx="4294967295"/>
          </p:nvPr>
        </p:nvSpPr>
        <p:spPr>
          <a:xfrm>
            <a:off x="1031630" y="1578708"/>
            <a:ext cx="7197969" cy="454745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  <a:spcBef>
                <a:spcPts val="281"/>
              </a:spcBef>
              <a:buFont typeface="Wingdings" panose="05000000000000000000" pitchFamily="2" charset="2"/>
              <a:buChar char="Ø"/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Create virtual peers in simulation.</a:t>
            </a: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Split file into small chunks.</a:t>
            </a: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Peers exchange missing chunks with each other.</a:t>
            </a: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Track chunk ownership using a lookup table.</a:t>
            </a: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Measure and compare download times.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 idx="4294967295"/>
          </p:nvPr>
        </p:nvSpPr>
        <p:spPr>
          <a:xfrm>
            <a:off x="320431" y="82953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</a:rPr>
              <a:t>Tools Required</a:t>
            </a:r>
          </a:p>
        </p:txBody>
      </p:sp>
      <p:sp>
        <p:nvSpPr>
          <p:cNvPr id="91" name="PlaceHolder 2"/>
          <p:cNvSpPr>
            <a:spLocks noGrp="1"/>
          </p:cNvSpPr>
          <p:nvPr>
            <p:ph idx="4294967295"/>
          </p:nvPr>
        </p:nvSpPr>
        <p:spPr>
          <a:xfrm>
            <a:off x="812800" y="1828800"/>
            <a:ext cx="7416800" cy="4297363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  <a:spcBef>
                <a:spcPts val="281"/>
              </a:spcBef>
              <a:buFont typeface="Wingdings" panose="05000000000000000000" pitchFamily="2" charset="2"/>
              <a:buChar char="Ø"/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Python (Sockets, Threading)</a:t>
            </a: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Matplotlib for performance visualization</a:t>
            </a: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Optional: Mininet for realistic network delays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 idx="4294967295"/>
          </p:nvPr>
        </p:nvSpPr>
        <p:spPr>
          <a:xfrm>
            <a:off x="359506" y="798269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</a:rPr>
              <a:t>Expected Outcome</a:t>
            </a:r>
          </a:p>
        </p:txBody>
      </p:sp>
      <p:sp>
        <p:nvSpPr>
          <p:cNvPr id="93" name="PlaceHolder 2"/>
          <p:cNvSpPr>
            <a:spLocks noGrp="1"/>
          </p:cNvSpPr>
          <p:nvPr>
            <p:ph idx="4294967295"/>
          </p:nvPr>
        </p:nvSpPr>
        <p:spPr>
          <a:xfrm>
            <a:off x="719014" y="1672492"/>
            <a:ext cx="7510585" cy="4453671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  <a:spcBef>
                <a:spcPts val="281"/>
              </a:spcBef>
              <a:buFont typeface="Wingdings" panose="05000000000000000000" pitchFamily="2" charset="2"/>
              <a:buChar char="Ø"/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Faster file distribution in P2P compared to client-server.</a:t>
            </a: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Reduced load on any single server or network link.</a:t>
            </a: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Demonstration of scalable file sharing.</a:t>
            </a:r>
          </a:p>
          <a:p>
            <a:pPr>
              <a:lnSpc>
                <a:spcPct val="100000"/>
              </a:lnSpc>
              <a:spcBef>
                <a:spcPts val="281"/>
              </a:spcBef>
              <a:buFont typeface="Wingdings" panose="05000000000000000000" pitchFamily="2" charset="2"/>
              <a:buChar char="Ø"/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281"/>
              </a:spcBef>
              <a:buFont typeface="Wingdings" panose="05000000000000000000" pitchFamily="2" charset="2"/>
              <a:buChar char="Ø"/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>
                <a:solidFill>
                  <a:srgbClr val="000000"/>
                </a:solidFill>
                <a:latin typeface="Calibri"/>
              </a:rPr>
              <a:t>Strengths</a:t>
            </a:r>
          </a:p>
        </p:txBody>
      </p:sp>
      <p:sp>
        <p:nvSpPr>
          <p:cNvPr id="95" name="PlaceHolder 2"/>
          <p:cNvSpPr>
            <a:spLocks noGrp="1"/>
          </p:cNvSpPr>
          <p:nvPr>
            <p:ph idx="4294967295"/>
          </p:nvPr>
        </p:nvSpPr>
        <p:spPr>
          <a:xfrm>
            <a:off x="820614" y="1695938"/>
            <a:ext cx="7408985" cy="44302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  <a:spcBef>
                <a:spcPts val="281"/>
              </a:spcBef>
              <a:buFont typeface="Wingdings" panose="05000000000000000000" pitchFamily="2" charset="2"/>
              <a:buChar char="Ø"/>
            </a:pPr>
            <a:endParaRPr lang="en-US" sz="14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Scalable – more peers means faster distribution.</a:t>
            </a: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No dependency on a central server.</a:t>
            </a: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Efficient use of available bandwidth.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 idx="4294967295"/>
          </p:nvPr>
        </p:nvSpPr>
        <p:spPr>
          <a:xfrm>
            <a:off x="140677" y="602884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</a:rPr>
              <a:t>Limitations</a:t>
            </a:r>
          </a:p>
        </p:txBody>
      </p:sp>
      <p:sp>
        <p:nvSpPr>
          <p:cNvPr id="97" name="PlaceHolder 2"/>
          <p:cNvSpPr>
            <a:spLocks noGrp="1"/>
          </p:cNvSpPr>
          <p:nvPr>
            <p:ph idx="4294967295"/>
          </p:nvPr>
        </p:nvSpPr>
        <p:spPr>
          <a:xfrm>
            <a:off x="844062" y="1547446"/>
            <a:ext cx="7385538" cy="4578717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  <a:spcBef>
                <a:spcPts val="281"/>
              </a:spcBef>
              <a:buFont typeface="Wingdings" panose="05000000000000000000" pitchFamily="2" charset="2"/>
              <a:buChar char="Ø"/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Requires peers to stay online for complete sharing.</a:t>
            </a: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Security risks without encryption.</a:t>
            </a: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More complex peer management compared to client-server.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2400" spc="-1" dirty="0">
                <a:solidFill>
                  <a:srgbClr val="000000"/>
                </a:solidFill>
                <a:latin typeface="Calibri"/>
              </a:rPr>
              <a:t>C</a:t>
            </a:r>
            <a:r>
              <a:rPr lang="en-US" sz="2400" b="0" strike="noStrike" spc="-1" dirty="0">
                <a:solidFill>
                  <a:srgbClr val="000000"/>
                </a:solidFill>
                <a:latin typeface="Calibri"/>
              </a:rPr>
              <a:t>omparing Client-Server and P2P file sharing</a:t>
            </a:r>
          </a:p>
        </p:txBody>
      </p:sp>
      <p:pic>
        <p:nvPicPr>
          <p:cNvPr id="99" name="Picture 98"/>
          <p:cNvPicPr/>
          <p:nvPr/>
        </p:nvPicPr>
        <p:blipFill>
          <a:blip r:embed="rId2"/>
          <a:stretch/>
        </p:blipFill>
        <p:spPr>
          <a:xfrm>
            <a:off x="1575777" y="2758830"/>
            <a:ext cx="5992446" cy="3360616"/>
          </a:xfrm>
          <a:prstGeom prst="rect">
            <a:avLst/>
          </a:prstGeom>
          <a:ln w="0">
            <a:noFill/>
          </a:ln>
        </p:spPr>
      </p:pic>
      <p:sp>
        <p:nvSpPr>
          <p:cNvPr id="100" name="TextBox 99"/>
          <p:cNvSpPr txBox="1"/>
          <p:nvPr/>
        </p:nvSpPr>
        <p:spPr>
          <a:xfrm>
            <a:off x="473040" y="1143000"/>
            <a:ext cx="4784760" cy="1908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0" strike="noStrike" spc="-1" dirty="0">
                <a:latin typeface="Arial"/>
              </a:rPr>
              <a:t>Server Load: High (Client-Server) vs Low (P2P).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0" strike="noStrike" spc="-1" dirty="0">
                <a:latin typeface="Arial"/>
              </a:rPr>
              <a:t>Scalability: Limited (Client-Server) vs High (P2P).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0" strike="noStrike" spc="-1" dirty="0">
                <a:latin typeface="Arial"/>
              </a:rPr>
              <a:t>Speed: Slows with more users (Client-Server) vs Improves with more peers (P2P).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1400" b="0" strike="noStrike" spc="-1" dirty="0">
                <a:latin typeface="Arial"/>
              </a:rPr>
              <a:t>Reliability: Single point of failure (Client-Server) vs No single point of failure (P2P</a:t>
            </a:r>
            <a:r>
              <a:rPr lang="en-US" sz="1600" b="0" strike="noStrike" spc="-1" dirty="0">
                <a:latin typeface="Arial"/>
              </a:rPr>
              <a:t>).</a:t>
            </a:r>
          </a:p>
          <a:p>
            <a:endParaRPr lang="en-US" sz="16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 idx="4294967295"/>
          </p:nvPr>
        </p:nvSpPr>
        <p:spPr>
          <a:xfrm>
            <a:off x="1346200" y="494005"/>
            <a:ext cx="5853724" cy="126914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3600" b="0" strike="noStrike" spc="-1" dirty="0">
                <a:solidFill>
                  <a:srgbClr val="000000"/>
                </a:solidFill>
                <a:latin typeface="Calibri"/>
              </a:rPr>
              <a:t>How P2P Works 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346200" y="1763151"/>
            <a:ext cx="5715000" cy="2697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2400" b="0" strike="noStrike" spc="-1" dirty="0">
                <a:latin typeface="Arial"/>
              </a:rPr>
              <a:t>The file is split into smaller chunks.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2400" b="0" strike="noStrike" spc="-1" dirty="0">
                <a:latin typeface="Arial"/>
              </a:rPr>
              <a:t>Peers share the chunks they have directly with others.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2400" b="0" strike="noStrike" spc="-1" dirty="0">
                <a:latin typeface="Arial"/>
              </a:rPr>
              <a:t>More peers mean faster distribution as multiple chunks are shared simultaneously.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sz="2400" b="0" strike="noStrike" spc="-1" dirty="0">
                <a:latin typeface="Arial"/>
              </a:rPr>
              <a:t>This process continues until all peers have all chunks.</a:t>
            </a: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2400" b="0" strike="noStrike" spc="-1" dirty="0">
              <a:latin typeface="Arial"/>
            </a:endParaRPr>
          </a:p>
          <a:p>
            <a:pPr marL="171450" indent="-171450">
              <a:buFont typeface="Wingdings" panose="05000000000000000000" pitchFamily="2" charset="2"/>
              <a:buChar char="v"/>
            </a:pPr>
            <a:endParaRPr lang="en-US" sz="24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 idx="4294967295"/>
          </p:nvPr>
        </p:nvSpPr>
        <p:spPr>
          <a:xfrm>
            <a:off x="0" y="758874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 dirty="0">
                <a:solidFill>
                  <a:srgbClr val="000000"/>
                </a:solidFill>
                <a:latin typeface="Calibri"/>
              </a:rPr>
              <a:t>              </a:t>
            </a:r>
            <a:r>
              <a:rPr lang="en-US" sz="4000" b="0" strike="noStrike" spc="-1" dirty="0">
                <a:solidFill>
                  <a:srgbClr val="000000"/>
                </a:solidFill>
                <a:latin typeface="Calibri"/>
              </a:rPr>
              <a:t>Real-World Uses of P2P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340338" y="2136336"/>
            <a:ext cx="5700600" cy="29854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2400" b="0" strike="noStrike" spc="-1" dirty="0">
                <a:latin typeface="Arial"/>
              </a:rPr>
              <a:t>File sharing platforms like BitTorrent and </a:t>
            </a:r>
            <a:r>
              <a:rPr lang="en-US" sz="2400" b="0" strike="noStrike" spc="-1" dirty="0" err="1">
                <a:latin typeface="Arial"/>
              </a:rPr>
              <a:t>qBittorrent</a:t>
            </a:r>
            <a:r>
              <a:rPr lang="en-US" sz="2400" b="0" strike="noStrike" spc="-1" dirty="0">
                <a:latin typeface="Arial"/>
              </a:rPr>
              <a:t>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2400" b="0" strike="noStrike" spc="-1" dirty="0">
                <a:latin typeface="Arial"/>
              </a:rPr>
              <a:t>Blockchain networks such as Bitcoin and Ethereum.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2400" b="0" strike="noStrike" spc="-1" dirty="0">
                <a:latin typeface="Arial"/>
              </a:rPr>
              <a:t>P2P-assisted video streaming platforms.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sz="2400" b="0" strike="noStrike" spc="-1" dirty="0">
                <a:latin typeface="Arial"/>
              </a:rPr>
              <a:t>Distributed cloud storage systems like IPFS.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sz="2400" b="0" strike="noStrike" spc="-1" dirty="0">
              <a:latin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 idx="4294967295"/>
          </p:nvPr>
        </p:nvSpPr>
        <p:spPr>
          <a:xfrm>
            <a:off x="0" y="731837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4400" b="0" strike="noStrike" spc="-1" dirty="0">
                <a:solidFill>
                  <a:srgbClr val="000000"/>
                </a:solidFill>
                <a:latin typeface="Calibri"/>
              </a:rPr>
              <a:t>Conclusion</a:t>
            </a:r>
          </a:p>
        </p:txBody>
      </p:sp>
      <p:sp>
        <p:nvSpPr>
          <p:cNvPr id="106" name="PlaceHolder 2"/>
          <p:cNvSpPr>
            <a:spLocks noGrp="1"/>
          </p:cNvSpPr>
          <p:nvPr>
            <p:ph idx="4294967295"/>
          </p:nvPr>
        </p:nvSpPr>
        <p:spPr>
          <a:xfrm>
            <a:off x="750276" y="1578708"/>
            <a:ext cx="7479323" cy="454745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lnSpc>
                <a:spcPct val="100000"/>
              </a:lnSpc>
              <a:spcBef>
                <a:spcPts val="281"/>
              </a:spcBef>
              <a:buFont typeface="Wingdings" panose="05000000000000000000" pitchFamily="2" charset="2"/>
              <a:buChar char="Ø"/>
            </a:pPr>
            <a:endParaRPr lang="en-US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P2P networking improves file sharing efficiency.</a:t>
            </a: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Can be used in large-scale networks to reduce server load.</a:t>
            </a:r>
          </a:p>
          <a:p>
            <a:pPr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en-US" b="0" strike="noStrike" spc="-1" dirty="0">
                <a:solidFill>
                  <a:srgbClr val="000000"/>
                </a:solidFill>
                <a:latin typeface="Calibri"/>
              </a:rPr>
              <a:t>Simulation helps visualize benefits over traditional methods.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5C7CB1-EACC-17F5-0EC9-6D0E41D40C30}"/>
              </a:ext>
            </a:extLst>
          </p:cNvPr>
          <p:cNvSpPr txBox="1"/>
          <p:nvPr/>
        </p:nvSpPr>
        <p:spPr>
          <a:xfrm>
            <a:off x="1969476" y="2875002"/>
            <a:ext cx="54238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/>
              <a:t>THANK YOU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463394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1_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</Words>
  <Application>Microsoft Office PowerPoint</Application>
  <PresentationFormat>On-screen Show (4:3)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Garamond</vt:lpstr>
      <vt:lpstr>Times New Roman</vt:lpstr>
      <vt:lpstr>Wingdings</vt:lpstr>
      <vt:lpstr>Organic</vt:lpstr>
      <vt:lpstr>1_Organic</vt:lpstr>
      <vt:lpstr>Peer-to-Peer (P2P) File Sharing Network</vt:lpstr>
      <vt:lpstr>Problem Statement</vt:lpstr>
      <vt:lpstr>Objective</vt:lpstr>
      <vt:lpstr>  Methodology</vt:lpstr>
      <vt:lpstr>Tools Required</vt:lpstr>
      <vt:lpstr>Expected Outcome</vt:lpstr>
      <vt:lpstr>Strengths</vt:lpstr>
      <vt:lpstr>Limitations</vt:lpstr>
      <vt:lpstr>Comparing Client-Server and P2P file sharing</vt:lpstr>
      <vt:lpstr>How P2P Works </vt:lpstr>
      <vt:lpstr>              Real-World Uses of P2P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gopu Madhav</dc:creator>
  <cp:lastModifiedBy>Nikhil Tejas Gopu</cp:lastModifiedBy>
  <cp:revision>1</cp:revision>
  <dcterms:modified xsi:type="dcterms:W3CDTF">2025-08-08T05:33:29Z</dcterms:modified>
</cp:coreProperties>
</file>